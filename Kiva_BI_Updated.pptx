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5" r:id="rId18"/>
    <p:sldId id="270" r:id="rId19"/>
    <p:sldId id="271" r:id="rId20"/>
    <p:sldId id="272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4040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KIVA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7772400" cy="274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Microloan Intelligence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&amp; Data Preparation  |  Phase 1 Report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4203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Text 6"/>
          <p:cNvSpPr/>
          <p:nvPr/>
        </p:nvSpPr>
        <p:spPr>
          <a:xfrm>
            <a:off x="777240" y="44531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Project   |   Data Science Track   | 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Six-phase project plan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47472" y="114300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347472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143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the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38988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project objectives, scope, and key business questions.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242316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347472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2423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26700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summary statistics and visualization methods to surface insights.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370332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347472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3703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Transformation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395020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duplicates, outliers, encoding, and scaling.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45152" y="1143000"/>
            <a:ext cx="384048" cy="384048"/>
          </a:xfrm>
          <a:prstGeom prst="ellipse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9" name="Text 17"/>
          <p:cNvSpPr/>
          <p:nvPr/>
        </p:nvSpPr>
        <p:spPr>
          <a:xfrm>
            <a:off x="4645152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02352" y="1143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8988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visuals from the cleaned dataset in Power BI.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45552" y="11430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45152" y="2423160"/>
            <a:ext cx="384048" cy="384048"/>
          </a:xfrm>
          <a:prstGeom prst="ellipse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4" name="Text 22"/>
          <p:cNvSpPr/>
          <p:nvPr/>
        </p:nvSpPr>
        <p:spPr>
          <a:xfrm>
            <a:off x="4645152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02352" y="2423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Model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6700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evaluate a regression model to predict funded amount.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45552" y="24231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645152" y="3703320"/>
            <a:ext cx="384048" cy="384048"/>
          </a:xfrm>
          <a:prstGeom prst="ellipse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9" name="Text 27"/>
          <p:cNvSpPr/>
          <p:nvPr/>
        </p:nvSpPr>
        <p:spPr>
          <a:xfrm>
            <a:off x="4645152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02352" y="3703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Series Forecasting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02352" y="395020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funded_amount vs. date to forecast future lending trends.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45552" y="3703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47472" y="4663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▌ Phase 1 — This Report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4663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▌ Phase 2 — Upcoming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— Who Is Kiva?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36576" cy="868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Kiva?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0817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Kiva is a non-profit crowdfunding platform founded in 2005 that connects individual lenders worldwide with underserved borrowers in developing economies through small-dollar microloans.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2368296"/>
            <a:ext cx="36576" cy="868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502920" y="23682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6090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Kiva has facilitated over $1.8 billion in loans across 80+ countries, empowering entrepreneurs to grow businesses and break cycles of poverty across agriculture, retail, education, and more.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3621024"/>
            <a:ext cx="36576" cy="868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2" name="Text 10"/>
          <p:cNvSpPr/>
          <p:nvPr/>
        </p:nvSpPr>
        <p:spPr>
          <a:xfrm>
            <a:off x="502920" y="362102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Motivation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91363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which loans get funded, by how many lenders, and across which sectors optimizes Kiva's outreach, improves lender engagement, and enables forecasting of future capital deployment.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0" y="1115568"/>
            <a:ext cx="3291840" cy="374904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5577840" y="12070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0" y="1517904"/>
            <a:ext cx="2743200" cy="274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7" name="Text 15"/>
          <p:cNvSpPr/>
          <p:nvPr/>
        </p:nvSpPr>
        <p:spPr>
          <a:xfrm>
            <a:off x="5577840" y="16002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33,561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86600" y="166420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Records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1984248"/>
            <a:ext cx="3017520" cy="9144"/>
          </a:xfrm>
          <a:prstGeom prst="rect">
            <a:avLst/>
          </a:prstGeom>
          <a:solidFill>
            <a:srgbClr val="24345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0" name="Text 18"/>
          <p:cNvSpPr/>
          <p:nvPr/>
        </p:nvSpPr>
        <p:spPr>
          <a:xfrm>
            <a:off x="5577840" y="21305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86600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Served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2514600"/>
            <a:ext cx="3017520" cy="9144"/>
          </a:xfrm>
          <a:prstGeom prst="rect">
            <a:avLst/>
          </a:prstGeom>
          <a:solidFill>
            <a:srgbClr val="24345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3" name="Text 21"/>
          <p:cNvSpPr/>
          <p:nvPr/>
        </p:nvSpPr>
        <p:spPr>
          <a:xfrm>
            <a:off x="5577840" y="26609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272491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Sectors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3044952"/>
            <a:ext cx="3017520" cy="9144"/>
          </a:xfrm>
          <a:prstGeom prst="rect">
            <a:avLst/>
          </a:prstGeom>
          <a:solidFill>
            <a:srgbClr val="24345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6" name="Text 24"/>
          <p:cNvSpPr/>
          <p:nvPr/>
        </p:nvSpPr>
        <p:spPr>
          <a:xfrm>
            <a:off x="5577840" y="319125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$26.5M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86600" y="325526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3575304"/>
            <a:ext cx="3017520" cy="9144"/>
          </a:xfrm>
          <a:prstGeom prst="rect">
            <a:avLst/>
          </a:prstGeom>
          <a:solidFill>
            <a:srgbClr val="24345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9" name="Text 27"/>
          <p:cNvSpPr/>
          <p:nvPr/>
        </p:nvSpPr>
        <p:spPr>
          <a:xfrm>
            <a:off x="5577840" y="37216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$790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86600" y="378561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Loan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4105656"/>
            <a:ext cx="3017520" cy="9144"/>
          </a:xfrm>
          <a:prstGeom prst="rect">
            <a:avLst/>
          </a:prstGeom>
          <a:solidFill>
            <a:srgbClr val="24345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2" name="Text 30"/>
          <p:cNvSpPr/>
          <p:nvPr/>
        </p:nvSpPr>
        <p:spPr>
          <a:xfrm>
            <a:off x="5577840" y="4251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72.5%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86600" y="431596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Borrowers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 &amp;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business questions driving this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347472" y="1115568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Text 6"/>
          <p:cNvSpPr/>
          <p:nvPr/>
        </p:nvSpPr>
        <p:spPr>
          <a:xfrm>
            <a:off x="438912" y="11704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48132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sectors receive the highest funding, and how does this evolve over time?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115568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Shape 9"/>
          <p:cNvSpPr/>
          <p:nvPr/>
        </p:nvSpPr>
        <p:spPr>
          <a:xfrm>
            <a:off x="3227832" y="1115568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2" name="Text 10"/>
          <p:cNvSpPr/>
          <p:nvPr/>
        </p:nvSpPr>
        <p:spPr>
          <a:xfrm>
            <a:off x="3319272" y="11704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9272" y="148132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measurable relationship between lender count and funded loan amount?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08192" y="1115568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3"/>
          <p:cNvSpPr/>
          <p:nvPr/>
        </p:nvSpPr>
        <p:spPr>
          <a:xfrm>
            <a:off x="6108192" y="1115568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6199632" y="1265036"/>
            <a:ext cx="573962" cy="234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C0392B"/>
                </a:solidFill>
                <a:latin typeface="Georgia" pitchFamily="34" charset="0"/>
              </a:rPr>
              <a:t>Q3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99632" y="148132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build a reliable model to predict future funded amounts from historical data?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" y="2026451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Schema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37783"/>
              </p:ext>
            </p:extLst>
          </p:nvPr>
        </p:nvGraphicFramePr>
        <p:xfrm>
          <a:off x="384048" y="2273046"/>
          <a:ext cx="4843506" cy="2842260"/>
        </p:xfrm>
        <a:graphic>
          <a:graphicData uri="http://schemas.openxmlformats.org/drawingml/2006/table">
            <a:tbl>
              <a:tblPr/>
              <a:tblGrid>
                <a:gridCol w="138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8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12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3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Column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Type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Description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loan identifier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funded_amount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funded by lenders (USD)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loan_amount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loan requested (USD)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sector (15 categories)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Borrower's country (79 countries)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Kiva field partner 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term_in_months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repayment duration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lender_count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individual lenders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9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borrower_genders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Gender(s) of borrower group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9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repayment_interval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/ Irregular / Bullet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9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posting date (2014–2017)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770568" y="2143216"/>
            <a:ext cx="1600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Shape 18"/>
          <p:cNvSpPr/>
          <p:nvPr/>
        </p:nvSpPr>
        <p:spPr>
          <a:xfrm>
            <a:off x="5776020" y="2155700"/>
            <a:ext cx="160020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2" name="Text 19"/>
          <p:cNvSpPr/>
          <p:nvPr/>
        </p:nvSpPr>
        <p:spPr>
          <a:xfrm>
            <a:off x="5770568" y="2247313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33,561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5750874" y="269713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760720" y="3115997"/>
            <a:ext cx="1600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5" name="Shape 22"/>
          <p:cNvSpPr/>
          <p:nvPr/>
        </p:nvSpPr>
        <p:spPr>
          <a:xfrm>
            <a:off x="5760720" y="3115997"/>
            <a:ext cx="160020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6" name="Text 23"/>
          <p:cNvSpPr/>
          <p:nvPr/>
        </p:nvSpPr>
        <p:spPr>
          <a:xfrm>
            <a:off x="5760720" y="3189149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2014–2017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760720" y="3664637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760720" y="4096513"/>
            <a:ext cx="1600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9" name="Shape 26"/>
          <p:cNvSpPr/>
          <p:nvPr/>
        </p:nvSpPr>
        <p:spPr>
          <a:xfrm>
            <a:off x="5760720" y="4096513"/>
            <a:ext cx="160020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0" name="Text 27"/>
          <p:cNvSpPr/>
          <p:nvPr/>
        </p:nvSpPr>
        <p:spPr>
          <a:xfrm>
            <a:off x="5760720" y="4169665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5760720" y="4645153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432309" y="2153768"/>
            <a:ext cx="1600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3" name="Shape 30"/>
          <p:cNvSpPr/>
          <p:nvPr/>
        </p:nvSpPr>
        <p:spPr>
          <a:xfrm>
            <a:off x="7436528" y="2149543"/>
            <a:ext cx="1600200" cy="54864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4" name="Text 31"/>
          <p:cNvSpPr/>
          <p:nvPr/>
        </p:nvSpPr>
        <p:spPr>
          <a:xfrm>
            <a:off x="7445321" y="2201591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600" dirty="0"/>
          </a:p>
        </p:txBody>
      </p:sp>
      <p:sp>
        <p:nvSpPr>
          <p:cNvPr id="35" name="Text 32"/>
          <p:cNvSpPr/>
          <p:nvPr/>
        </p:nvSpPr>
        <p:spPr>
          <a:xfrm>
            <a:off x="7445322" y="2670047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452360" y="3123028"/>
            <a:ext cx="1600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7" name="Shape 34"/>
          <p:cNvSpPr/>
          <p:nvPr/>
        </p:nvSpPr>
        <p:spPr>
          <a:xfrm>
            <a:off x="7452360" y="3123028"/>
            <a:ext cx="1600200" cy="54864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8" name="Text 35"/>
          <p:cNvSpPr/>
          <p:nvPr/>
        </p:nvSpPr>
        <p:spPr>
          <a:xfrm>
            <a:off x="7452360" y="319618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$26.5M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7452360" y="367166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Funded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452360" y="4103548"/>
            <a:ext cx="1600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41" name="Shape 38"/>
          <p:cNvSpPr/>
          <p:nvPr/>
        </p:nvSpPr>
        <p:spPr>
          <a:xfrm>
            <a:off x="7452360" y="4089480"/>
            <a:ext cx="1600200" cy="54864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2" name="Text 39"/>
          <p:cNvSpPr/>
          <p:nvPr/>
        </p:nvSpPr>
        <p:spPr>
          <a:xfrm>
            <a:off x="7452360" y="41767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829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7452360" y="46521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(raw)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— Summary Statistics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· Key numeric and categorical findings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7955280" y="182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795528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EDA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1155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 Feature Summary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389888"/>
          <a:ext cx="4983480" cy="164592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Feature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Mean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Median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Std Dev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Max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74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Funded Amount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74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Loan Amount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74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Term (months)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74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Lender Count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47472" y="31089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472" y="3410712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566928" y="3383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funded amount ($790) is 75% higher than the median ($450) — confirming strong right skew driven by large outliers.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" y="3831336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566928" y="38039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terms average 13.7 months — most Kiva loans are short-to-medium-term microfinance instruments.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7472" y="4251960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6" name="Text 13"/>
          <p:cNvSpPr/>
          <p:nvPr/>
        </p:nvSpPr>
        <p:spPr>
          <a:xfrm>
            <a:off x="566928" y="42245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count median of 13 vs. max 1,481 — most loans attract few lenders; viral campaigns attract thousands.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47472" y="4672584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8" name="Text 15"/>
          <p:cNvSpPr/>
          <p:nvPr/>
        </p:nvSpPr>
        <p:spPr>
          <a:xfrm>
            <a:off x="566928" y="46451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columns have missing values: partner_id (634) and borrower_genders (195) — clean and addressable.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23560" y="1115568"/>
            <a:ext cx="3200400" cy="3547872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5715000" y="12070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Value Profile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1490472"/>
            <a:ext cx="2743200" cy="228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2" name="Text 19"/>
          <p:cNvSpPr/>
          <p:nvPr/>
        </p:nvSpPr>
        <p:spPr>
          <a:xfrm>
            <a:off x="5760720" y="1645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partner_id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60720" y="1892808"/>
            <a:ext cx="2834640" cy="256032"/>
          </a:xfrm>
          <a:prstGeom prst="rect">
            <a:avLst/>
          </a:prstGeom>
          <a:solidFill>
            <a:srgbClr val="24345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4" name="Shape 21"/>
          <p:cNvSpPr/>
          <p:nvPr/>
        </p:nvSpPr>
        <p:spPr>
          <a:xfrm>
            <a:off x="5760720" y="1892808"/>
            <a:ext cx="2318918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5" name="Text 22"/>
          <p:cNvSpPr/>
          <p:nvPr/>
        </p:nvSpPr>
        <p:spPr>
          <a:xfrm>
            <a:off x="5760720" y="1892808"/>
            <a:ext cx="28346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634 missing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760720" y="24688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borrower_genders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760720" y="2715768"/>
            <a:ext cx="2834640" cy="256032"/>
          </a:xfrm>
          <a:prstGeom prst="rect">
            <a:avLst/>
          </a:prstGeom>
          <a:solidFill>
            <a:srgbClr val="24345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8" name="Shape 25"/>
          <p:cNvSpPr/>
          <p:nvPr/>
        </p:nvSpPr>
        <p:spPr>
          <a:xfrm>
            <a:off x="5760720" y="2715768"/>
            <a:ext cx="713232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9" name="Text 26"/>
          <p:cNvSpPr/>
          <p:nvPr/>
        </p:nvSpPr>
        <p:spPr>
          <a:xfrm>
            <a:off x="5760720" y="2715768"/>
            <a:ext cx="28346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missing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760720" y="33375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columns: 0 missing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760720" y="35661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Only 2.5% of records affected overall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Top 10 Sectors by Total Funding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· Answers Business Question 1: Which sectors lead?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7955280" y="182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795528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VIZ</a:t>
            </a:r>
            <a:endParaRPr lang="en-US" sz="900" dirty="0"/>
          </a:p>
        </p:txBody>
      </p:sp>
      <p:pic>
        <p:nvPicPr>
          <p:cNvPr id="8" name="Image 0" descr="C:\Users\alosh\Desktop\كلية\second term\BI\project2\BI-Project\01_sector_funding_b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115568"/>
            <a:ext cx="548640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89320" y="1115568"/>
            <a:ext cx="36576" cy="777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0" name="Text 7"/>
          <p:cNvSpPr/>
          <p:nvPr/>
        </p:nvSpPr>
        <p:spPr>
          <a:xfrm>
            <a:off x="6144768" y="11155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Agriculture leads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44768" y="138988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$6.6M, Agriculture receives nearly double the funding of the next sector, reflecting Kiva's rural development focus.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89320" y="2121408"/>
            <a:ext cx="36576" cy="777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3" name="Text 10"/>
          <p:cNvSpPr/>
          <p:nvPr/>
        </p:nvSpPr>
        <p:spPr>
          <a:xfrm>
            <a:off x="6144768" y="21214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3 = 64% of all funds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44768" y="23957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Agriculture, Food &amp; Retail together account for nearly two-thirds of all disbursed capital.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3127248"/>
            <a:ext cx="36576" cy="777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6" name="Text 13"/>
          <p:cNvSpPr/>
          <p:nvPr/>
        </p:nvSpPr>
        <p:spPr>
          <a:xfrm>
            <a:off x="6144768" y="31272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tail of sectors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44768" y="34015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Arts, Transport &amp; Entertainment each receive under $0.6M — niche but underserved opportunity areas.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89320" y="4114800"/>
            <a:ext cx="2880360" cy="68580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9" name="Text 16"/>
          <p:cNvSpPr/>
          <p:nvPr/>
        </p:nvSpPr>
        <p:spPr>
          <a:xfrm>
            <a:off x="6080760" y="41330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80760" y="4343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+ Food = the backbone of Kiva's microfinance mission.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Sector Funding Trends Over 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· How did sector funding evolve year by year?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7955280" y="182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795528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VIZ</a:t>
            </a:r>
            <a:endParaRPr lang="en-US" sz="900" dirty="0"/>
          </a:p>
        </p:txBody>
      </p:sp>
      <p:pic>
        <p:nvPicPr>
          <p:cNvPr id="8" name="Image 0" descr="C:\Users\alosh\Desktop\كلية\second term\BI\project2\BI-Project\02_sector_trends_over_ti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115568"/>
            <a:ext cx="850392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7472" y="4160520"/>
            <a:ext cx="2788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Shape 7"/>
          <p:cNvSpPr/>
          <p:nvPr/>
        </p:nvSpPr>
        <p:spPr>
          <a:xfrm>
            <a:off x="347472" y="4160520"/>
            <a:ext cx="2788920" cy="45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438912" y="422452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sectors peaked in 2016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38912" y="444398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growth trajectory from 2014 to a 2016 peak, followed by a notable decline entering 2017.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19272" y="4160520"/>
            <a:ext cx="2788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Shape 11"/>
          <p:cNvSpPr/>
          <p:nvPr/>
        </p:nvSpPr>
        <p:spPr>
          <a:xfrm>
            <a:off x="3319272" y="4160520"/>
            <a:ext cx="2788920" cy="45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5" name="Text 12"/>
          <p:cNvSpPr/>
          <p:nvPr/>
        </p:nvSpPr>
        <p:spPr>
          <a:xfrm>
            <a:off x="3410712" y="422452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Agriculture held dominance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410712" y="444398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maintained the highest funding consistently across the entire 2014–2017 window.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91072" y="4160520"/>
            <a:ext cx="2788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Shape 15"/>
          <p:cNvSpPr/>
          <p:nvPr/>
        </p:nvSpPr>
        <p:spPr>
          <a:xfrm>
            <a:off x="6291072" y="4160520"/>
            <a:ext cx="2788920" cy="4572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9" name="Text 16"/>
          <p:cNvSpPr/>
          <p:nvPr/>
        </p:nvSpPr>
        <p:spPr>
          <a:xfrm>
            <a:off x="6382512" y="422452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 drop is a data artifact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382512" y="444398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 decline after mid-2016 is partially explained by the dataset ending in July 2017 (incomplete year).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Borrower Demographics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· Gender distribution and repayment structure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7955280" y="182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795528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VIZ</a:t>
            </a:r>
            <a:endParaRPr lang="en-US" sz="900" dirty="0"/>
          </a:p>
        </p:txBody>
      </p:sp>
      <p:pic>
        <p:nvPicPr>
          <p:cNvPr id="8" name="Image 0" descr="C:\Users\alosh\Desktop\كلية\second term\BI\project2\BI-Project\03_gender_repaym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115568"/>
            <a:ext cx="8503920" cy="2606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7472" y="3840480"/>
            <a:ext cx="2788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Shape 7"/>
          <p:cNvSpPr/>
          <p:nvPr/>
        </p:nvSpPr>
        <p:spPr>
          <a:xfrm>
            <a:off x="347472" y="3840480"/>
            <a:ext cx="2788920" cy="502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438912" y="39136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72.5% Female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38912" y="4169664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Kiva intentionally focuses on female economic empowerment — consistent with global microfinance research showing women are more reliable repayers.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9272" y="3840480"/>
            <a:ext cx="2788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Shape 11"/>
          <p:cNvSpPr/>
          <p:nvPr/>
        </p:nvSpPr>
        <p:spPr>
          <a:xfrm>
            <a:off x="3319272" y="3840480"/>
            <a:ext cx="2788920" cy="50292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5" name="Text 12"/>
          <p:cNvSpPr/>
          <p:nvPr/>
        </p:nvSpPr>
        <p:spPr>
          <a:xfrm>
            <a:off x="3410712" y="39136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Repayment Dominates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10712" y="4169664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51.3% of loans use monthly repayment (17,237 loans) — borrowers prefer predictable, smaller recurring payments.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291072" y="3840480"/>
            <a:ext cx="2788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Shape 15"/>
          <p:cNvSpPr/>
          <p:nvPr/>
        </p:nvSpPr>
        <p:spPr>
          <a:xfrm>
            <a:off x="6291072" y="3840480"/>
            <a:ext cx="2788920" cy="5029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9" name="Text 16"/>
          <p:cNvSpPr/>
          <p:nvPr/>
        </p:nvSpPr>
        <p:spPr>
          <a:xfrm>
            <a:off x="6382512" y="39136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Irregular = Agriculture Proxy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82512" y="4169664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of loans are irregular-repayment, common in agricultural contexts where income is seasonal rather than monthly.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Funded Amount Distribution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· Proves right-skew and validates outlier removal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7955280" y="182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795528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VIZ</a:t>
            </a:r>
            <a:endParaRPr lang="en-US" sz="900" dirty="0"/>
          </a:p>
        </p:txBody>
      </p:sp>
      <p:pic>
        <p:nvPicPr>
          <p:cNvPr id="8" name="Image 0" descr="C:\Users\alosh\Desktop\كلية\second term\BI\project2\BI-Project\04_funded_amount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115568"/>
            <a:ext cx="5669280" cy="2651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1115568"/>
            <a:ext cx="26517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Shape 7"/>
          <p:cNvSpPr/>
          <p:nvPr/>
        </p:nvSpPr>
        <p:spPr>
          <a:xfrm>
            <a:off x="6172200" y="1115568"/>
            <a:ext cx="26517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6172200" y="11887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17220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Loan (typical)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72200" y="2121408"/>
            <a:ext cx="26517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Shape 11"/>
          <p:cNvSpPr/>
          <p:nvPr/>
        </p:nvSpPr>
        <p:spPr>
          <a:xfrm>
            <a:off x="6172200" y="2121408"/>
            <a:ext cx="2651760" cy="54864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5" name="Text 12"/>
          <p:cNvSpPr/>
          <p:nvPr/>
        </p:nvSpPr>
        <p:spPr>
          <a:xfrm>
            <a:off x="6172200" y="21945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$705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172200" y="26700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Loan (skewed by outliers)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72200" y="3127248"/>
            <a:ext cx="26517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Shape 15"/>
          <p:cNvSpPr/>
          <p:nvPr/>
        </p:nvSpPr>
        <p:spPr>
          <a:xfrm>
            <a:off x="6172200" y="3127248"/>
            <a:ext cx="265176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9" name="Text 16"/>
          <p:cNvSpPr/>
          <p:nvPr/>
        </p:nvSpPr>
        <p:spPr>
          <a:xfrm>
            <a:off x="6172200" y="32004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$50K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172200" y="36758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(extreme outlier)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47472" y="3904488"/>
            <a:ext cx="278892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2" name="Text 19"/>
          <p:cNvSpPr/>
          <p:nvPr/>
        </p:nvSpPr>
        <p:spPr>
          <a:xfrm>
            <a:off x="438912" y="3977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right skew: majority of loans fall below $1,000 — Kiva serves small-dollar borrowers.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319272" y="3904488"/>
            <a:ext cx="278892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4" name="Text 21"/>
          <p:cNvSpPr/>
          <p:nvPr/>
        </p:nvSpPr>
        <p:spPr>
          <a:xfrm>
            <a:off x="3410712" y="3977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&gt; median by 56%: the average is pulled up significantly by large outliers, making median the truer measure.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157426" y="4087372"/>
            <a:ext cx="2788920" cy="54864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6" name="Text 23"/>
          <p:cNvSpPr/>
          <p:nvPr/>
        </p:nvSpPr>
        <p:spPr>
          <a:xfrm>
            <a:off x="6382512" y="3977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peak at ~$1,000–1,500 suggests a distinct tier of slightly larger business loans.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Lender Count vs. Funded Amount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· Directly answers Business Question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7955280" y="182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795528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VIZ</a:t>
            </a:r>
            <a:endParaRPr lang="en-US" sz="900" dirty="0"/>
          </a:p>
        </p:txBody>
      </p:sp>
      <p:pic>
        <p:nvPicPr>
          <p:cNvPr id="8" name="Image 0" descr="C:\Users\alosh\Desktop\كلية\second term\BI\project2\BI-Project\05_lenders_vs_funded_correl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115568"/>
            <a:ext cx="566928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0760" y="1115568"/>
            <a:ext cx="2743200" cy="118872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0" name="Text 7"/>
          <p:cNvSpPr/>
          <p:nvPr/>
        </p:nvSpPr>
        <p:spPr>
          <a:xfrm>
            <a:off x="6080760" y="12070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B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Pearson 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80760" y="1463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0.795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080760" y="1956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Correlation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80760" y="2377440"/>
            <a:ext cx="36576" cy="6583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6236208" y="23774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signal confirmed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36208" y="26517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0.795 is strong — lender_count will be a primary feature in the ML model (Phase 2, Step 5).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0760" y="3246120"/>
            <a:ext cx="36576" cy="6583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7" name="Text 14"/>
          <p:cNvSpPr/>
          <p:nvPr/>
        </p:nvSpPr>
        <p:spPr>
          <a:xfrm>
            <a:off x="6236208" y="32461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Density in lower-left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36208" y="35204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loans cluster at 0–25 lenders and under $500 — typical small microloans attracting small lender groups.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80760" y="4114800"/>
            <a:ext cx="36576" cy="6583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0" name="Text 17"/>
          <p:cNvSpPr/>
          <p:nvPr/>
        </p:nvSpPr>
        <p:spPr>
          <a:xfrm>
            <a:off x="6236208" y="41148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growth holds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36208" y="43891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regression line stays consistent across the full range, not just the high-density cluster.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Geographic Distribution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· Top 15 countries by total funded amount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7955280" y="182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795528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VIZ</a:t>
            </a:r>
            <a:endParaRPr lang="en-US" sz="900" dirty="0"/>
          </a:p>
        </p:txBody>
      </p:sp>
      <p:pic>
        <p:nvPicPr>
          <p:cNvPr id="8" name="Image 0" descr="C:\Users\alosh\Desktop\كلية\second term\BI\project2\BI-Project\06_top_countries_fund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115568"/>
            <a:ext cx="5486400" cy="3566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89320" y="1115568"/>
            <a:ext cx="36576" cy="8046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0" name="Text 7"/>
          <p:cNvSpPr/>
          <p:nvPr/>
        </p:nvSpPr>
        <p:spPr>
          <a:xfrm>
            <a:off x="6144768" y="11155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Philippines #1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44768" y="13350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$2.8M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44768" y="154533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Asia anchors Kiva's largest regional presence — nearly double the next country.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89320" y="2121408"/>
            <a:ext cx="36576" cy="8046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6144768" y="21214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Peru &amp; Kenya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44768" y="23408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$1.6M each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44768" y="255117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 and Sub-Saharan Africa are Kiva's two other major operational hubs.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89320" y="3127248"/>
            <a:ext cx="36576" cy="804672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8" name="Text 15"/>
          <p:cNvSpPr/>
          <p:nvPr/>
        </p:nvSpPr>
        <p:spPr>
          <a:xfrm>
            <a:off x="6144768" y="3097706"/>
            <a:ext cx="22536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3 = 38% of total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27887" y="3547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3 countries out of 79 account for nearly two-fifths of all capital deployed.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44768" y="2876843"/>
            <a:ext cx="2788920" cy="108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989320" y="4133088"/>
            <a:ext cx="36576" cy="804672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2" name="Text 19"/>
          <p:cNvSpPr/>
          <p:nvPr/>
        </p:nvSpPr>
        <p:spPr>
          <a:xfrm>
            <a:off x="6144768" y="413308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Countries 4–15 cluster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44768" y="43525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$0.6–1.5M range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44768" y="456285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but fairly even geographic spread beyond the top three.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Monthly Funding Trend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· Baseline for Step 6 time-series forecasting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7955280" y="182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795528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VIZ</a:t>
            </a:r>
            <a:endParaRPr lang="en-US" sz="900" dirty="0"/>
          </a:p>
        </p:txBody>
      </p:sp>
      <p:pic>
        <p:nvPicPr>
          <p:cNvPr id="8" name="Image 0" descr="C:\Users\alosh\Desktop\كلية\second term\BI\project2\BI-Project\07_monthly_funding_timeseri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115568"/>
            <a:ext cx="8503920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7472" y="3950208"/>
            <a:ext cx="2788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0" name="Shape 7"/>
          <p:cNvSpPr/>
          <p:nvPr/>
        </p:nvSpPr>
        <p:spPr>
          <a:xfrm>
            <a:off x="347472" y="3950208"/>
            <a:ext cx="2788920" cy="502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438912" y="401421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 2014–2016 Plateau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38912" y="42519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funding held consistently between $0.55M–$0.70M — a mature, predictable lending operation.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9272" y="3950208"/>
            <a:ext cx="2788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Shape 11"/>
          <p:cNvSpPr/>
          <p:nvPr/>
        </p:nvSpPr>
        <p:spPr>
          <a:xfrm>
            <a:off x="3319272" y="3950208"/>
            <a:ext cx="2788920" cy="5029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5" name="Text 12"/>
          <p:cNvSpPr/>
          <p:nvPr/>
        </p:nvSpPr>
        <p:spPr>
          <a:xfrm>
            <a:off x="3410712" y="401421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2017 Spike (~$0.92M)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10712" y="42519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notable peak in early 2017 may reflect a seasonal agricultural borrowing cycle or a fundraising campaign.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291072" y="3950208"/>
            <a:ext cx="2788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8" name="Shape 15"/>
          <p:cNvSpPr/>
          <p:nvPr/>
        </p:nvSpPr>
        <p:spPr>
          <a:xfrm>
            <a:off x="6291072" y="3950208"/>
            <a:ext cx="2788920" cy="50292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9" name="Text 16"/>
          <p:cNvSpPr/>
          <p:nvPr/>
        </p:nvSpPr>
        <p:spPr>
          <a:xfrm>
            <a:off x="6382512" y="401421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End-of-Data Artifact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82512" y="42519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 drop at the chart's end is simply the dataset ending mid-July 2017 — not a real operational decline.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 — Data Cleaning &amp; Transformation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systematic steps applied to prepare data for Power BI and ML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7726680" y="182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772668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CLEAN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115568"/>
          <a:ext cx="8503920" cy="2551614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Step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Action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Method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Result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01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Duplicates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drop_duplicates()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duplicates found — data integrity confirmed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02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Missing Values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for partner_id; 'Unknown' for categoricals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829 null entries resolved cleanly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03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Outliers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±3 standard deviations on funded_amount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756 records removed; bounds $0–$4,322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04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Encoding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.cat.codes on repayment_interval &amp; gender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ML-ready integer features created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05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Scaling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 → stored in _scaled columns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Originals preserved for Power BI; z-scores for 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06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Cleaned Dataset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df_clean.to_csv('kiva_loans_cleaned.csv')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32,805 rows × 19 cols ready for Phase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47472" y="3749040"/>
            <a:ext cx="8503920" cy="86868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0" name="Text 7"/>
          <p:cNvSpPr/>
          <p:nvPr/>
        </p:nvSpPr>
        <p:spPr>
          <a:xfrm>
            <a:off x="475488" y="38404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Decision: 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65960" y="3822192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values are stored in dedicated _scaled columns — original numerics (loan_amount, term_in_months, lender_count) are fully preserved. Power BI receives human-readable data (e.g. $500, 13 months) while the ML pipeline uses the normalized z-score columns.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 — Visual Proof of Cleaning Quality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comparison for outlier removal and missing value imputation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7726680" y="182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772668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CLEAN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11556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 Removal — Funded Amount Boxplot</a:t>
            </a:r>
            <a:endParaRPr lang="en-US" sz="1100" dirty="0"/>
          </a:p>
        </p:txBody>
      </p:sp>
      <p:pic>
        <p:nvPicPr>
          <p:cNvPr id="9" name="Image 0" descr="C:\Users\alosh\Desktop\كلية\second term\BI\project2\BI-Project\08_outlier_removal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371600"/>
            <a:ext cx="5486400" cy="1737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89320" y="1371600"/>
            <a:ext cx="2834640" cy="173736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6080760" y="1463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(red):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80760" y="16733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is invisible — extreme outliers up to $50,000 crush the entire box to a thin line at the bottom.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80760" y="21945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(green):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24048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fully visible ($250–$900), whiskers meaningful. 756 extreme values removed. Data is now model-ready.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47472" y="32186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Value Profile — Before vs. After Imputation</a:t>
            </a:r>
            <a:endParaRPr lang="en-US" sz="1100" dirty="0"/>
          </a:p>
        </p:txBody>
      </p:sp>
      <p:pic>
        <p:nvPicPr>
          <p:cNvPr id="16" name="Image 1" descr="C:\Users\alosh\Desktop\كلية\second term\BI\project2\BI-Project\09_missing_values_comparis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7472" y="3474720"/>
            <a:ext cx="5486400" cy="1417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989320" y="3474720"/>
            <a:ext cx="2834640" cy="141732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8" name="Text 14"/>
          <p:cNvSpPr/>
          <p:nvPr/>
        </p:nvSpPr>
        <p:spPr>
          <a:xfrm>
            <a:off x="6080760" y="358444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cleaning, every single column shows zero missing values — confirming complete data coverage for Power BI import.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080760" y="4251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32,805 rows  ·  19 columns  ·  0 nulls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720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 — Machine Learning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72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regression models trained to predict funded_amount on 32,805 cleaned records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7726680" y="182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772668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ML</a:t>
            </a:r>
            <a:endParaRPr lang="en-US" sz="900" dirty="0"/>
          </a:p>
        </p:txBody>
      </p:sp>
      <p:sp>
        <p:nvSpPr>
          <p:cNvPr id="8" name="Text 8"/>
          <p:cNvSpPr/>
          <p:nvPr/>
        </p:nvSpPr>
        <p:spPr>
          <a:xfrm>
            <a:off x="347472" y="1115568"/>
            <a:ext cx="39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Features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389888"/>
          <a:ext cx="3900000" cy="2300000"/>
        </p:xfrm>
        <a:graphic>
          <a:graphicData uri="http://schemas.openxmlformats.org/drawingml/2006/table">
            <a:tbl>
              <a:tblPr/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Feature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loan_amount_scaled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normalized loan amount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term_in_months_scaled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normalized term length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lender_count_scaled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normalized lender count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repayment_encoded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Encoded repayment interval type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gender_encoded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Encoded borrower gender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</a:tbl>
          </a:graphicData>
        </a:graphic>
      </p:graphicFrame>
      <p:sp>
        <p:nvSpPr>
          <p:cNvPr id="20" name="Text 20"/>
          <p:cNvSpPr/>
          <p:nvPr/>
        </p:nvSpPr>
        <p:spPr>
          <a:xfrm>
            <a:off x="347472" y="3740000"/>
            <a:ext cx="39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funded_amount  |  Train/Test split: 80% / 20%  |  random_state=42</a:t>
            </a:r>
            <a:endParaRPr lang="en-US" sz="900" dirty="0"/>
          </a:p>
        </p:txBody>
      </p:sp>
      <p:sp>
        <p:nvSpPr>
          <p:cNvPr id="30" name="Card 0"/>
          <p:cNvSpPr/>
          <p:nvPr/>
        </p:nvSpPr>
        <p:spPr>
          <a:xfrm>
            <a:off x="4450000" y="1115568"/>
            <a:ext cx="4400000" cy="8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</p:spPr>
        <p:txBody>
          <a:bodyPr/>
          <a:lstStyle/>
          <a:p>
            <a:endParaRPr lang="ar-EG"/>
          </a:p>
        </p:txBody>
      </p:sp>
      <p:sp>
        <p:nvSpPr>
          <p:cNvPr id="31" name="Text 31"/>
          <p:cNvSpPr/>
          <p:nvPr/>
        </p:nvSpPr>
        <p:spPr>
          <a:xfrm>
            <a:off x="4541440" y="1298448"/>
            <a:ext cx="400000" cy="45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2"/>
          <p:cNvSpPr/>
          <p:nvPr/>
        </p:nvSpPr>
        <p:spPr>
          <a:xfrm>
            <a:off x="5000000" y="1215568"/>
            <a:ext cx="37000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using z-score scaled features. Establishes the performance floor for comparison.</a:t>
            </a:r>
            <a:endParaRPr lang="en-US" sz="950" dirty="0"/>
          </a:p>
        </p:txBody>
      </p:sp>
      <p:sp>
        <p:nvSpPr>
          <p:cNvPr id="33" name="Card 1"/>
          <p:cNvSpPr/>
          <p:nvPr/>
        </p:nvSpPr>
        <p:spPr>
          <a:xfrm>
            <a:off x="4450000" y="1995568"/>
            <a:ext cx="4400000" cy="8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</p:spPr>
        <p:txBody>
          <a:bodyPr/>
          <a:lstStyle/>
          <a:p>
            <a:endParaRPr lang="ar-EG"/>
          </a:p>
        </p:txBody>
      </p:sp>
      <p:sp>
        <p:nvSpPr>
          <p:cNvPr id="34" name="Text 34"/>
          <p:cNvSpPr/>
          <p:nvPr/>
        </p:nvSpPr>
        <p:spPr>
          <a:xfrm>
            <a:off x="4541440" y="2178448"/>
            <a:ext cx="400000" cy="45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5" name="Text 35"/>
          <p:cNvSpPr/>
          <p:nvPr/>
        </p:nvSpPr>
        <p:spPr>
          <a:xfrm>
            <a:off x="5000000" y="2095568"/>
            <a:ext cx="37000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Polynomial Regression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Degree-2 polynomial expansion of scaled features. Captures non-linear interactions between predictors.</a:t>
            </a:r>
            <a:endParaRPr lang="en-US" sz="950" dirty="0"/>
          </a:p>
        </p:txBody>
      </p:sp>
      <p:sp>
        <p:nvSpPr>
          <p:cNvPr id="36" name="Card 2"/>
          <p:cNvSpPr/>
          <p:nvPr/>
        </p:nvSpPr>
        <p:spPr>
          <a:xfrm>
            <a:off x="4450000" y="2875568"/>
            <a:ext cx="4400000" cy="8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</p:spPr>
        <p:txBody>
          <a:bodyPr/>
          <a:lstStyle/>
          <a:p>
            <a:endParaRPr lang="ar-EG"/>
          </a:p>
        </p:txBody>
      </p:sp>
      <p:sp>
        <p:nvSpPr>
          <p:cNvPr id="37" name="Text 37"/>
          <p:cNvSpPr/>
          <p:nvPr/>
        </p:nvSpPr>
        <p:spPr>
          <a:xfrm>
            <a:off x="4541440" y="3058448"/>
            <a:ext cx="400000" cy="45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8"/>
          <p:cNvSpPr/>
          <p:nvPr/>
        </p:nvSpPr>
        <p:spPr>
          <a:xfrm>
            <a:off x="5000000" y="2975568"/>
            <a:ext cx="37000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tree regressor (max_depth=8) on raw features. No scaling required.</a:t>
            </a:r>
            <a:endParaRPr lang="en-US" sz="950" dirty="0"/>
          </a:p>
        </p:txBody>
      </p:sp>
      <p:sp>
        <p:nvSpPr>
          <p:cNvPr id="39" name="Card 3"/>
          <p:cNvSpPr/>
          <p:nvPr/>
        </p:nvSpPr>
        <p:spPr>
          <a:xfrm>
            <a:off x="4450000" y="3755568"/>
            <a:ext cx="4400000" cy="820000"/>
          </a:xfrm>
          <a:prstGeom prst="rect">
            <a:avLst/>
          </a:prstGeom>
          <a:solidFill>
            <a:srgbClr val="1A2740"/>
          </a:solidFill>
          <a:ln w="9525">
            <a:solidFill>
              <a:srgbClr val="C0392B"/>
            </a:solidFill>
          </a:ln>
        </p:spPr>
        <p:txBody>
          <a:bodyPr/>
          <a:lstStyle/>
          <a:p>
            <a:endParaRPr lang="ar-EG"/>
          </a:p>
        </p:txBody>
      </p:sp>
      <p:sp>
        <p:nvSpPr>
          <p:cNvPr id="40" name="Text 40"/>
          <p:cNvSpPr/>
          <p:nvPr/>
        </p:nvSpPr>
        <p:spPr>
          <a:xfrm>
            <a:off x="4541440" y="3938448"/>
            <a:ext cx="400000" cy="45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41"/>
          <p:cNvSpPr/>
          <p:nvPr/>
        </p:nvSpPr>
        <p:spPr>
          <a:xfrm>
            <a:off x="5000000" y="3855568"/>
            <a:ext cx="37000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decision trees (n_estimators=100). Best generalization and noise resistance.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720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 — Model Evaluation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72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 across all four models · Test set (20% = 6,561 records)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7726680" y="182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772668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ML</a:t>
            </a:r>
            <a:endParaRPr lang="en-US" sz="900" dirty="0"/>
          </a:p>
        </p:txBody>
      </p:sp>
      <p:sp>
        <p:nvSpPr>
          <p:cNvPr id="8" name="Text 8"/>
          <p:cNvSpPr/>
          <p:nvPr/>
        </p:nvSpPr>
        <p:spPr>
          <a:xfrm>
            <a:off x="347472" y="1115568"/>
            <a:ext cx="50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Metrics by Model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389888"/>
          <a:ext cx="8503920" cy="2200000"/>
        </p:xfrm>
        <a:graphic>
          <a:graphicData uri="http://schemas.openxmlformats.org/drawingml/2006/table">
            <a:tbl>
              <a:tblPr/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Model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MSE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RMSE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R² Score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54,285.00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232.99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105.43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0.8806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Polynomial Regression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30,521.34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174.70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66.18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0.9329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21,041.81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145.06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38.06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0.9537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Random Forest ★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0AB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16,176.08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0AB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127.19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0AB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32.37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0.9644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20"/>
          <p:cNvSpPr/>
          <p:nvPr/>
        </p:nvSpPr>
        <p:spPr>
          <a:xfrm>
            <a:off x="347472" y="3640000"/>
            <a:ext cx="850392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MSE / RMSE / MAE = less prediction error in USD.  Higher R² = more variance explained.  Best values highlighted in the Random Forest row.</a:t>
            </a:r>
            <a:endParaRPr lang="en-US" sz="950" dirty="0"/>
          </a:p>
        </p:txBody>
      </p:sp>
      <p:sp>
        <p:nvSpPr>
          <p:cNvPr id="21" name="Shape 21"/>
          <p:cNvSpPr/>
          <p:nvPr/>
        </p:nvSpPr>
        <p:spPr>
          <a:xfrm>
            <a:off x="347472" y="3849040"/>
            <a:ext cx="8503920" cy="86868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2" name="Text 22"/>
          <p:cNvSpPr/>
          <p:nvPr/>
        </p:nvSpPr>
        <p:spPr>
          <a:xfrm>
            <a:off x="475488" y="3930000"/>
            <a:ext cx="15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Progression:</a:t>
            </a:r>
            <a:endParaRPr lang="en-US" sz="1100" dirty="0"/>
          </a:p>
        </p:txBody>
      </p:sp>
      <p:sp>
        <p:nvSpPr>
          <p:cNvPr id="23" name="Text 23"/>
          <p:cNvSpPr/>
          <p:nvPr/>
        </p:nvSpPr>
        <p:spPr>
          <a:xfrm>
            <a:off x="1900000" y="3920000"/>
            <a:ext cx="6500000" cy="6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0.8806  →  Polynomial 0.9329  →  Decision Tree 0.9537  →  Random Forest 0.9644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720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 — Best Model: Random Forest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72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predictive accuracy across all evaluation metrics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7726680" y="182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772668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ML</a:t>
            </a:r>
            <a:endParaRPr lang="en-US" sz="900" dirty="0"/>
          </a:p>
        </p:txBody>
      </p:sp>
      <p:sp>
        <p:nvSpPr>
          <p:cNvPr id="10" name="Shape 10"/>
          <p:cNvSpPr/>
          <p:nvPr/>
        </p:nvSpPr>
        <p:spPr>
          <a:xfrm>
            <a:off x="347472" y="1115568"/>
            <a:ext cx="2600000" cy="120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11"/>
          <p:cNvSpPr/>
          <p:nvPr/>
        </p:nvSpPr>
        <p:spPr>
          <a:xfrm>
            <a:off x="347472" y="1200000"/>
            <a:ext cx="260000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0.9644</a:t>
            </a:r>
            <a:endParaRPr lang="en-US" sz="3600" dirty="0"/>
          </a:p>
        </p:txBody>
      </p:sp>
      <p:sp>
        <p:nvSpPr>
          <p:cNvPr id="12" name="Text 12"/>
          <p:cNvSpPr/>
          <p:nvPr/>
        </p:nvSpPr>
        <p:spPr>
          <a:xfrm>
            <a:off x="347472" y="1780000"/>
            <a:ext cx="26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13" name="Text 13"/>
          <p:cNvSpPr/>
          <p:nvPr/>
        </p:nvSpPr>
        <p:spPr>
          <a:xfrm>
            <a:off x="347472" y="2060000"/>
            <a:ext cx="26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96.44% of variance in funded_amount explained</a:t>
            </a:r>
            <a:endParaRPr lang="en-US" sz="900" dirty="0"/>
          </a:p>
        </p:txBody>
      </p:sp>
      <p:sp>
        <p:nvSpPr>
          <p:cNvPr id="14" name="Shape 14"/>
          <p:cNvSpPr/>
          <p:nvPr/>
        </p:nvSpPr>
        <p:spPr>
          <a:xfrm>
            <a:off x="3101472" y="1115568"/>
            <a:ext cx="2600000" cy="120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5" name="Text 15"/>
          <p:cNvSpPr/>
          <p:nvPr/>
        </p:nvSpPr>
        <p:spPr>
          <a:xfrm>
            <a:off x="3101472" y="1200000"/>
            <a:ext cx="260000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127.19</a:t>
            </a:r>
            <a:endParaRPr lang="en-US" sz="3600" dirty="0"/>
          </a:p>
        </p:txBody>
      </p:sp>
      <p:sp>
        <p:nvSpPr>
          <p:cNvPr id="16" name="Text 16"/>
          <p:cNvSpPr/>
          <p:nvPr/>
        </p:nvSpPr>
        <p:spPr>
          <a:xfrm>
            <a:off x="3101472" y="1780000"/>
            <a:ext cx="26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RMSE (USD)</a:t>
            </a:r>
            <a:endParaRPr lang="en-US" sz="1100" dirty="0"/>
          </a:p>
        </p:txBody>
      </p:sp>
      <p:sp>
        <p:nvSpPr>
          <p:cNvPr id="17" name="Text 17"/>
          <p:cNvSpPr/>
          <p:nvPr/>
        </p:nvSpPr>
        <p:spPr>
          <a:xfrm>
            <a:off x="3101472" y="2060000"/>
            <a:ext cx="26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 error of only $127 per loan</a:t>
            </a:r>
            <a:endParaRPr lang="en-US" sz="900" dirty="0"/>
          </a:p>
        </p:txBody>
      </p:sp>
      <p:sp>
        <p:nvSpPr>
          <p:cNvPr id="18" name="Shape 18"/>
          <p:cNvSpPr/>
          <p:nvPr/>
        </p:nvSpPr>
        <p:spPr>
          <a:xfrm>
            <a:off x="5856472" y="1115568"/>
            <a:ext cx="2600000" cy="120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9" name="Text 19"/>
          <p:cNvSpPr/>
          <p:nvPr/>
        </p:nvSpPr>
        <p:spPr>
          <a:xfrm>
            <a:off x="5856472" y="1200000"/>
            <a:ext cx="260000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32.37</a:t>
            </a:r>
            <a:endParaRPr lang="en-US" sz="3600" dirty="0"/>
          </a:p>
        </p:txBody>
      </p:sp>
      <p:sp>
        <p:nvSpPr>
          <p:cNvPr id="20" name="Text 20"/>
          <p:cNvSpPr/>
          <p:nvPr/>
        </p:nvSpPr>
        <p:spPr>
          <a:xfrm>
            <a:off x="5856472" y="1780000"/>
            <a:ext cx="26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 (USD)</a:t>
            </a:r>
            <a:endParaRPr lang="en-US" sz="1100" dirty="0"/>
          </a:p>
        </p:txBody>
      </p:sp>
      <p:sp>
        <p:nvSpPr>
          <p:cNvPr id="21" name="Text 21"/>
          <p:cNvSpPr/>
          <p:nvPr/>
        </p:nvSpPr>
        <p:spPr>
          <a:xfrm>
            <a:off x="5856472" y="2060000"/>
            <a:ext cx="26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absolute error of just $32 per loan</a:t>
            </a:r>
            <a:endParaRPr lang="en-US" sz="900" dirty="0"/>
          </a:p>
        </p:txBody>
      </p:sp>
      <p:sp>
        <p:nvSpPr>
          <p:cNvPr id="30" name="Text 30"/>
          <p:cNvSpPr/>
          <p:nvPr/>
        </p:nvSpPr>
        <p:spPr>
          <a:xfrm>
            <a:off x="347472" y="2480000"/>
            <a:ext cx="41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Random Forest Wins</a:t>
            </a:r>
            <a:endParaRPr lang="en-US" sz="1200" dirty="0"/>
          </a:p>
        </p:txBody>
      </p:sp>
      <p:sp>
        <p:nvSpPr>
          <p:cNvPr id="31" name="Shape 31"/>
          <p:cNvSpPr/>
          <p:nvPr/>
        </p:nvSpPr>
        <p:spPr>
          <a:xfrm>
            <a:off x="347472" y="2700000"/>
            <a:ext cx="18288" cy="2100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2" name="Text 32"/>
          <p:cNvSpPr/>
          <p:nvPr/>
        </p:nvSpPr>
        <p:spPr>
          <a:xfrm>
            <a:off x="400000" y="2720000"/>
            <a:ext cx="390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advantage: 100 trees vote together, reducing overfitting vs. a single Decision Tree.</a:t>
            </a:r>
            <a:endParaRPr lang="en-US" sz="950" dirty="0"/>
          </a:p>
        </p:txBody>
      </p:sp>
      <p:sp>
        <p:nvSpPr>
          <p:cNvPr id="33" name="Text 33"/>
          <p:cNvSpPr/>
          <p:nvPr/>
        </p:nvSpPr>
        <p:spPr>
          <a:xfrm>
            <a:off x="400000" y="3210000"/>
            <a:ext cx="390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capture: Naturally models complex interactions without needing polynomial expansion.</a:t>
            </a:r>
            <a:endParaRPr lang="en-US" sz="950" dirty="0"/>
          </a:p>
        </p:txBody>
      </p:sp>
      <p:sp>
        <p:nvSpPr>
          <p:cNvPr id="34" name="Text 34"/>
          <p:cNvSpPr/>
          <p:nvPr/>
        </p:nvSpPr>
        <p:spPr>
          <a:xfrm>
            <a:off x="400000" y="3700000"/>
            <a:ext cx="390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robustness: Tree-based splits are unaffected by residual scale in the cleaned dataset.</a:t>
            </a:r>
            <a:endParaRPr lang="en-US" sz="950" dirty="0"/>
          </a:p>
        </p:txBody>
      </p:sp>
      <p:sp>
        <p:nvSpPr>
          <p:cNvPr id="35" name="Text 35"/>
          <p:cNvSpPr/>
          <p:nvPr/>
        </p:nvSpPr>
        <p:spPr>
          <a:xfrm>
            <a:off x="400000" y="4190000"/>
            <a:ext cx="390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needed: Raw feature values used directly — no StandardScaler required.</a:t>
            </a:r>
            <a:endParaRPr lang="en-US" sz="950" dirty="0"/>
          </a:p>
        </p:txBody>
      </p:sp>
      <p:sp>
        <p:nvSpPr>
          <p:cNvPr id="50" name="Text 50"/>
          <p:cNvSpPr/>
          <p:nvPr/>
        </p:nvSpPr>
        <p:spPr>
          <a:xfrm>
            <a:off x="4600000" y="2480000"/>
            <a:ext cx="42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Ranking</a:t>
            </a:r>
            <a:endParaRPr lang="en-US" sz="1200" dirty="0"/>
          </a:p>
        </p:txBody>
      </p:sp>
      <p:sp>
        <p:nvSpPr>
          <p:cNvPr id="51" name="Text 51"/>
          <p:cNvSpPr/>
          <p:nvPr/>
        </p:nvSpPr>
        <p:spPr>
          <a:xfrm>
            <a:off x="4600000" y="2760000"/>
            <a:ext cx="16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lender_count</a:t>
            </a:r>
            <a:endParaRPr lang="en-US" sz="850" dirty="0"/>
          </a:p>
        </p:txBody>
      </p:sp>
      <p:sp>
        <p:nvSpPr>
          <p:cNvPr id="52" name="Shape 52"/>
          <p:cNvSpPr/>
          <p:nvPr/>
        </p:nvSpPr>
        <p:spPr>
          <a:xfrm>
            <a:off x="5983700" y="2795000"/>
            <a:ext cx="2736000" cy="200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3" name="Text 53"/>
          <p:cNvSpPr/>
          <p:nvPr/>
        </p:nvSpPr>
        <p:spPr>
          <a:xfrm>
            <a:off x="8779700" y="2755000"/>
            <a:ext cx="4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850" dirty="0"/>
          </a:p>
        </p:txBody>
      </p:sp>
      <p:sp>
        <p:nvSpPr>
          <p:cNvPr id="54" name="Text 54"/>
          <p:cNvSpPr/>
          <p:nvPr/>
        </p:nvSpPr>
        <p:spPr>
          <a:xfrm>
            <a:off x="4600000" y="3150000"/>
            <a:ext cx="16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loan_amount</a:t>
            </a:r>
            <a:endParaRPr lang="en-US" sz="850" dirty="0"/>
          </a:p>
        </p:txBody>
      </p:sp>
      <p:sp>
        <p:nvSpPr>
          <p:cNvPr id="55" name="Shape 55"/>
          <p:cNvSpPr/>
          <p:nvPr/>
        </p:nvSpPr>
        <p:spPr>
          <a:xfrm>
            <a:off x="5983700" y="3200000"/>
            <a:ext cx="532000" cy="20000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6" name="Text 56"/>
          <p:cNvSpPr/>
          <p:nvPr/>
        </p:nvSpPr>
        <p:spPr>
          <a:xfrm>
            <a:off x="6575700" y="3160000"/>
            <a:ext cx="4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850" dirty="0"/>
          </a:p>
        </p:txBody>
      </p:sp>
      <p:sp>
        <p:nvSpPr>
          <p:cNvPr id="57" name="Text 57"/>
          <p:cNvSpPr/>
          <p:nvPr/>
        </p:nvSpPr>
        <p:spPr>
          <a:xfrm>
            <a:off x="4600000" y="3540000"/>
            <a:ext cx="16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term_in_months</a:t>
            </a:r>
            <a:endParaRPr lang="en-US" sz="850" dirty="0"/>
          </a:p>
        </p:txBody>
      </p:sp>
      <p:sp>
        <p:nvSpPr>
          <p:cNvPr id="58" name="Shape 58"/>
          <p:cNvSpPr/>
          <p:nvPr/>
        </p:nvSpPr>
        <p:spPr>
          <a:xfrm>
            <a:off x="5983700" y="3580000"/>
            <a:ext cx="304000" cy="20000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9" name="Text 59"/>
          <p:cNvSpPr/>
          <p:nvPr/>
        </p:nvSpPr>
        <p:spPr>
          <a:xfrm>
            <a:off x="6347700" y="3540000"/>
            <a:ext cx="4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850" dirty="0"/>
          </a:p>
        </p:txBody>
      </p:sp>
      <p:sp>
        <p:nvSpPr>
          <p:cNvPr id="60" name="Text 60"/>
          <p:cNvSpPr/>
          <p:nvPr/>
        </p:nvSpPr>
        <p:spPr>
          <a:xfrm>
            <a:off x="4600000" y="3930000"/>
            <a:ext cx="16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repayment_encoded</a:t>
            </a:r>
            <a:endParaRPr lang="en-US" sz="850" dirty="0"/>
          </a:p>
        </p:txBody>
      </p:sp>
      <p:sp>
        <p:nvSpPr>
          <p:cNvPr id="61" name="Shape 61"/>
          <p:cNvSpPr/>
          <p:nvPr/>
        </p:nvSpPr>
        <p:spPr>
          <a:xfrm>
            <a:off x="5983700" y="3970000"/>
            <a:ext cx="152000" cy="20000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2" name="Text 62"/>
          <p:cNvSpPr/>
          <p:nvPr/>
        </p:nvSpPr>
        <p:spPr>
          <a:xfrm>
            <a:off x="6195700" y="3930000"/>
            <a:ext cx="4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850" dirty="0"/>
          </a:p>
        </p:txBody>
      </p:sp>
      <p:sp>
        <p:nvSpPr>
          <p:cNvPr id="63" name="Text 63"/>
          <p:cNvSpPr/>
          <p:nvPr/>
        </p:nvSpPr>
        <p:spPr>
          <a:xfrm>
            <a:off x="4600000" y="4320000"/>
            <a:ext cx="16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gender_encoded</a:t>
            </a:r>
            <a:endParaRPr lang="en-US" sz="850" dirty="0"/>
          </a:p>
        </p:txBody>
      </p:sp>
      <p:sp>
        <p:nvSpPr>
          <p:cNvPr id="64" name="Shape 64"/>
          <p:cNvSpPr/>
          <p:nvPr/>
        </p:nvSpPr>
        <p:spPr>
          <a:xfrm>
            <a:off x="5983700" y="4350000"/>
            <a:ext cx="76000" cy="20000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5" name="Text 65"/>
          <p:cNvSpPr/>
          <p:nvPr/>
        </p:nvSpPr>
        <p:spPr>
          <a:xfrm>
            <a:off x="6119700" y="4310000"/>
            <a:ext cx="4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progress · Building on the cleaned dataset produced in Phase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8503920" cy="18288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2788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347472" y="1115568"/>
            <a:ext cx="278892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129844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257860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kiva_loans_cleaned.csv directly into Power BI. Build interactive visuals: sector funding comparisons, geographic borrower maps, gender breakdowns by country, and year-over-year trend slicers.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2578608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already exported &amp; ready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19272" y="1115568"/>
            <a:ext cx="2788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5" name="Shape 13"/>
          <p:cNvSpPr/>
          <p:nvPr/>
        </p:nvSpPr>
        <p:spPr>
          <a:xfrm>
            <a:off x="3319272" y="1115568"/>
            <a:ext cx="278892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6" name="Shape 14"/>
          <p:cNvSpPr/>
          <p:nvPr/>
        </p:nvSpPr>
        <p:spPr>
          <a:xfrm>
            <a:off x="3429000" y="1261872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7" name="Text 15"/>
          <p:cNvSpPr/>
          <p:nvPr/>
        </p:nvSpPr>
        <p:spPr>
          <a:xfrm>
            <a:off x="3429000" y="1261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13632" y="129844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1755648"/>
            <a:ext cx="257860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regression models (Linear, Random Forest, Gradient Boosting) to predict funded_amount. Use the pre-built _scaled columns. Pearson r = 0.795 confirms lender_count as the primary predictor. Evaluate via RMSE and R².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4343400"/>
            <a:ext cx="2578608" cy="21945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Text 19"/>
          <p:cNvSpPr/>
          <p:nvPr/>
        </p:nvSpPr>
        <p:spPr>
          <a:xfrm>
            <a:off x="3429000" y="4343400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already scaled &amp; encoded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91072" y="1115568"/>
            <a:ext cx="2788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3" name="Shape 21"/>
          <p:cNvSpPr/>
          <p:nvPr/>
        </p:nvSpPr>
        <p:spPr>
          <a:xfrm>
            <a:off x="6291072" y="1115568"/>
            <a:ext cx="2788920" cy="54864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4" name="Shape 22"/>
          <p:cNvSpPr/>
          <p:nvPr/>
        </p:nvSpPr>
        <p:spPr>
          <a:xfrm>
            <a:off x="6400800" y="1261872"/>
            <a:ext cx="411480" cy="411480"/>
          </a:xfrm>
          <a:prstGeom prst="ellipse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5" name="Text 23"/>
          <p:cNvSpPr/>
          <p:nvPr/>
        </p:nvSpPr>
        <p:spPr>
          <a:xfrm>
            <a:off x="6400800" y="1261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85432" y="129844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Series Forecasting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1755648"/>
            <a:ext cx="257860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ARIMA or Prophet to the monthly funded_amount time series established in Step 2. The stable 2014–2016 baseline provides a clean, low-volatility training window ideal for forecasting future capital deployment.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4343400"/>
            <a:ext cx="2578608" cy="219456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9" name="Text 27"/>
          <p:cNvSpPr/>
          <p:nvPr/>
        </p:nvSpPr>
        <p:spPr>
          <a:xfrm>
            <a:off x="6400800" y="4343400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visualized in Step 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47091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Phase 2 steps depend entirely on the cleaned, encoded, and scaled dataset produced in Phase 1.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713232"/>
            <a:ext cx="8503920" cy="228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384048" y="841248"/>
            <a:ext cx="4069080" cy="1115568"/>
          </a:xfrm>
          <a:prstGeom prst="rect">
            <a:avLst/>
          </a:prstGeom>
          <a:solidFill>
            <a:srgbClr val="14203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4069080" cy="45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493776" y="9326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Agriculture &amp; Food lead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122529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accounting for 64% of all capital — Kiva's mission is clearly agricultural and food-sector focused.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167128"/>
            <a:ext cx="4069080" cy="1115568"/>
          </a:xfrm>
          <a:prstGeom prst="rect">
            <a:avLst/>
          </a:prstGeom>
          <a:solidFill>
            <a:srgbClr val="14203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0" name="Shape 8"/>
          <p:cNvSpPr/>
          <p:nvPr/>
        </p:nvSpPr>
        <p:spPr>
          <a:xfrm>
            <a:off x="384048" y="2167128"/>
            <a:ext cx="4069080" cy="45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493776" y="225856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72.5% of borrowers are female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" y="255117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Kiva's alignment with female economic empowerment — a key impact metric for stakeholders.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493008"/>
            <a:ext cx="4069080" cy="1115568"/>
          </a:xfrm>
          <a:prstGeom prst="rect">
            <a:avLst/>
          </a:prstGeom>
          <a:solidFill>
            <a:srgbClr val="14203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4" name="Shape 12"/>
          <p:cNvSpPr/>
          <p:nvPr/>
        </p:nvSpPr>
        <p:spPr>
          <a:xfrm>
            <a:off x="384048" y="3493008"/>
            <a:ext cx="4069080" cy="45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493776" y="358444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Pearson r = 0.795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" y="387705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count is a strong predictor of funded amount — a confirmed feature for the ML model in Phase 2.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36008" y="841248"/>
            <a:ext cx="4069080" cy="1115568"/>
          </a:xfrm>
          <a:prstGeom prst="rect">
            <a:avLst/>
          </a:prstGeom>
          <a:solidFill>
            <a:srgbClr val="14203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8" name="Shape 16"/>
          <p:cNvSpPr/>
          <p:nvPr/>
        </p:nvSpPr>
        <p:spPr>
          <a:xfrm>
            <a:off x="4636008" y="841248"/>
            <a:ext cx="4069080" cy="45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9" name="Text 17"/>
          <p:cNvSpPr/>
          <p:nvPr/>
        </p:nvSpPr>
        <p:spPr>
          <a:xfrm>
            <a:off x="4745736" y="9326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Philippines, Peru &amp; Kenya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45736" y="122529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countries account for 38% of all funding — clear geographic priorities for resource allocation.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36008" y="2167128"/>
            <a:ext cx="4069080" cy="1115568"/>
          </a:xfrm>
          <a:prstGeom prst="rect">
            <a:avLst/>
          </a:prstGeom>
          <a:solidFill>
            <a:srgbClr val="14203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2" name="Shape 20"/>
          <p:cNvSpPr/>
          <p:nvPr/>
        </p:nvSpPr>
        <p:spPr>
          <a:xfrm>
            <a:off x="4636008" y="2167128"/>
            <a:ext cx="4069080" cy="45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3" name="Text 21"/>
          <p:cNvSpPr/>
          <p:nvPr/>
        </p:nvSpPr>
        <p:spPr>
          <a:xfrm>
            <a:off x="4745736" y="225856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 $0.55–0.70M/month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45736" y="255117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funding was predictable across 2014–2016, providing a clean baseline for time-series forecasting.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36008" y="3493008"/>
            <a:ext cx="4069080" cy="1115568"/>
          </a:xfrm>
          <a:prstGeom prst="rect">
            <a:avLst/>
          </a:prstGeom>
          <a:solidFill>
            <a:srgbClr val="14203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6" name="Shape 24"/>
          <p:cNvSpPr/>
          <p:nvPr/>
        </p:nvSpPr>
        <p:spPr>
          <a:xfrm>
            <a:off x="4636008" y="3493008"/>
            <a:ext cx="4069080" cy="45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7" name="Text 25"/>
          <p:cNvSpPr/>
          <p:nvPr/>
        </p:nvSpPr>
        <p:spPr>
          <a:xfrm>
            <a:off x="4745736" y="358444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32,805 clean records exported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45736" y="387705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 retention rate post-cleaning — a fully validated, analysis-ready dataset for Power BI and ML.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0" name="Text 28"/>
          <p:cNvSpPr/>
          <p:nvPr/>
        </p:nvSpPr>
        <p:spPr>
          <a:xfrm>
            <a:off x="384048" y="4764024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complete. The pipeline is ready for Power BI · Machine Learning · Time Series Forecasting.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"Data is the foundation. Insight is the goal."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651760"/>
            <a:ext cx="2743200" cy="27432"/>
          </a:xfrm>
          <a:prstGeom prst="rect">
            <a:avLst/>
          </a:prstGeom>
          <a:solidFill>
            <a:srgbClr val="24345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4297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Kiva Loans Business Intelligence Project  ·  Phase 1  · 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2393</Words>
  <Application>Microsoft Office PowerPoint</Application>
  <PresentationFormat>On-screen Show (16:9)</PresentationFormat>
  <Paragraphs>406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Kiva Loans — BI Project Phase 1</dc:title>
  <dc:subject>PptxGenJS Presentation</dc:subject>
  <dc:creator>PptxGenJS</dc:creator>
  <cp:lastModifiedBy>يوسف ايمن فتحى محمد الشرقاوى</cp:lastModifiedBy>
  <cp:revision>4</cp:revision>
  <dcterms:created xsi:type="dcterms:W3CDTF">2026-05-01T07:06:40Z</dcterms:created>
  <dcterms:modified xsi:type="dcterms:W3CDTF">2026-05-06T21:25:13Z</dcterms:modified>
</cp:coreProperties>
</file>